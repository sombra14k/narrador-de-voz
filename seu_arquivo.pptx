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ebas Neue Cyrillic" charset="1" panose="02000506000000020004"/>
      <p:regular r:id="rId13"/>
    </p:embeddedFont>
    <p:embeddedFont>
      <p:font typeface="Montserrat" charset="1" panose="00000500000000000000"/>
      <p:regular r:id="rId14"/>
    </p:embeddedFont>
    <p:embeddedFont>
      <p:font typeface="League Spartan" charset="1" panose="00000800000000000000"/>
      <p:regular r:id="rId15"/>
    </p:embeddedFont>
    <p:embeddedFont>
      <p:font typeface="Montserrat Bold" charset="1" panose="00000800000000000000"/>
      <p:regular r:id="rId16"/>
    </p:embeddedFont>
    <p:embeddedFont>
      <p:font typeface="Lexend Deca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27" t="0" r="-382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3405616" y="-594884"/>
            <a:ext cx="11476767" cy="11476767"/>
          </a:xfrm>
          <a:custGeom>
            <a:avLst/>
            <a:gdLst/>
            <a:ahLst/>
            <a:cxnLst/>
            <a:rect r="r" b="b" t="t" l="l"/>
            <a:pathLst>
              <a:path h="11476767" w="11476767">
                <a:moveTo>
                  <a:pt x="0" y="0"/>
                </a:moveTo>
                <a:lnTo>
                  <a:pt x="11476768" y="0"/>
                </a:lnTo>
                <a:lnTo>
                  <a:pt x="11476768" y="11476768"/>
                </a:lnTo>
                <a:lnTo>
                  <a:pt x="0" y="114767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4286647" y="3574282"/>
            <a:ext cx="2290668" cy="0"/>
          </a:xfrm>
          <a:prstGeom prst="line">
            <a:avLst/>
          </a:prstGeom>
          <a:ln cap="flat" w="28575">
            <a:solidFill>
              <a:srgbClr val="D069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11844035" y="3574282"/>
            <a:ext cx="2023890" cy="0"/>
          </a:xfrm>
          <a:prstGeom prst="line">
            <a:avLst/>
          </a:prstGeom>
          <a:ln cap="flat" w="28575">
            <a:solidFill>
              <a:srgbClr val="D069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0">
            <a:off x="16362755" y="1549571"/>
            <a:ext cx="896545" cy="0"/>
          </a:xfrm>
          <a:prstGeom prst="line">
            <a:avLst/>
          </a:prstGeom>
          <a:ln cap="flat" w="28575">
            <a:solidFill>
              <a:srgbClr val="D069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8932521"/>
            <a:ext cx="1148121" cy="325779"/>
          </a:xfrm>
          <a:custGeom>
            <a:avLst/>
            <a:gdLst/>
            <a:ahLst/>
            <a:cxnLst/>
            <a:rect r="r" b="b" t="t" l="l"/>
            <a:pathLst>
              <a:path h="325779" w="1148121">
                <a:moveTo>
                  <a:pt x="0" y="0"/>
                </a:moveTo>
                <a:lnTo>
                  <a:pt x="1148121" y="0"/>
                </a:lnTo>
                <a:lnTo>
                  <a:pt x="1148121" y="325779"/>
                </a:lnTo>
                <a:lnTo>
                  <a:pt x="0" y="325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1378154" y="3300596"/>
            <a:ext cx="9467037" cy="4253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691"/>
              </a:lnSpc>
            </a:pPr>
            <a:r>
              <a:rPr lang="en-US" sz="24779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JLV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38546" y="4272167"/>
            <a:ext cx="5339894" cy="139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81"/>
              </a:lnSpc>
            </a:pPr>
            <a:r>
              <a:rPr lang="en-US" sz="8129">
                <a:solidFill>
                  <a:srgbClr val="D069C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INVESTIMENTOS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790920" y="949496"/>
            <a:ext cx="146838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49882" y="6002181"/>
            <a:ext cx="4650471" cy="35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UM FUTURO AO NOSSO LADO!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37983" y="3371717"/>
            <a:ext cx="4748438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0"/>
              </a:lnSpc>
            </a:pPr>
            <a:r>
              <a:rPr lang="en-US" sz="2600" spc="78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BEM VINDO 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515124" y="2716617"/>
            <a:ext cx="1148121" cy="325779"/>
          </a:xfrm>
          <a:custGeom>
            <a:avLst/>
            <a:gdLst/>
            <a:ahLst/>
            <a:cxnLst/>
            <a:rect r="r" b="b" t="t" l="l"/>
            <a:pathLst>
              <a:path h="325779" w="1148121">
                <a:moveTo>
                  <a:pt x="0" y="0"/>
                </a:moveTo>
                <a:lnTo>
                  <a:pt x="1148121" y="0"/>
                </a:lnTo>
                <a:lnTo>
                  <a:pt x="1148121" y="325779"/>
                </a:lnTo>
                <a:lnTo>
                  <a:pt x="0" y="325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48393" y="248393"/>
            <a:ext cx="1081996" cy="108199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64570" y="0"/>
                  </a:moveTo>
                  <a:lnTo>
                    <a:pt x="648230" y="0"/>
                  </a:lnTo>
                  <a:cubicBezTo>
                    <a:pt x="739119" y="0"/>
                    <a:pt x="812800" y="73681"/>
                    <a:pt x="812800" y="164570"/>
                  </a:cubicBezTo>
                  <a:lnTo>
                    <a:pt x="812800" y="648230"/>
                  </a:lnTo>
                  <a:cubicBezTo>
                    <a:pt x="812800" y="739119"/>
                    <a:pt x="739119" y="812800"/>
                    <a:pt x="648230" y="812800"/>
                  </a:cubicBezTo>
                  <a:lnTo>
                    <a:pt x="164570" y="812800"/>
                  </a:lnTo>
                  <a:cubicBezTo>
                    <a:pt x="73681" y="812800"/>
                    <a:pt x="0" y="739119"/>
                    <a:pt x="0" y="648230"/>
                  </a:cubicBezTo>
                  <a:lnTo>
                    <a:pt x="0" y="164570"/>
                  </a:lnTo>
                  <a:cubicBezTo>
                    <a:pt x="0" y="73681"/>
                    <a:pt x="73681" y="0"/>
                    <a:pt x="16457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700000">
            <a:off x="-5369695" y="-889440"/>
            <a:ext cx="12065880" cy="12065880"/>
          </a:xfrm>
          <a:custGeom>
            <a:avLst/>
            <a:gdLst/>
            <a:ahLst/>
            <a:cxnLst/>
            <a:rect r="r" b="b" t="t" l="l"/>
            <a:pathLst>
              <a:path h="12065880" w="12065880">
                <a:moveTo>
                  <a:pt x="0" y="0"/>
                </a:moveTo>
                <a:lnTo>
                  <a:pt x="12065880" y="0"/>
                </a:lnTo>
                <a:lnTo>
                  <a:pt x="12065880" y="12065880"/>
                </a:lnTo>
                <a:lnTo>
                  <a:pt x="0" y="12065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12065505" y="-889440"/>
            <a:ext cx="12065880" cy="12065880"/>
          </a:xfrm>
          <a:custGeom>
            <a:avLst/>
            <a:gdLst/>
            <a:ahLst/>
            <a:cxnLst/>
            <a:rect r="r" b="b" t="t" l="l"/>
            <a:pathLst>
              <a:path h="12065880" w="12065880">
                <a:moveTo>
                  <a:pt x="0" y="0"/>
                </a:moveTo>
                <a:lnTo>
                  <a:pt x="12065881" y="0"/>
                </a:lnTo>
                <a:lnTo>
                  <a:pt x="12065881" y="12065880"/>
                </a:lnTo>
                <a:lnTo>
                  <a:pt x="0" y="120658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700000">
            <a:off x="3405616" y="-594884"/>
            <a:ext cx="11476767" cy="11476767"/>
          </a:xfrm>
          <a:custGeom>
            <a:avLst/>
            <a:gdLst/>
            <a:ahLst/>
            <a:cxnLst/>
            <a:rect r="r" b="b" t="t" l="l"/>
            <a:pathLst>
              <a:path h="11476767" w="11476767">
                <a:moveTo>
                  <a:pt x="0" y="0"/>
                </a:moveTo>
                <a:lnTo>
                  <a:pt x="11476768" y="0"/>
                </a:lnTo>
                <a:lnTo>
                  <a:pt x="11476768" y="11476768"/>
                </a:lnTo>
                <a:lnTo>
                  <a:pt x="0" y="114767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92194" y="1212471"/>
            <a:ext cx="15703612" cy="282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99"/>
              </a:lnSpc>
            </a:pPr>
            <a:r>
              <a:rPr lang="en-US" sz="9999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COM DIFICULDADES PARA GERENCIAR SEU DINHEIRO?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2001635" y="2974746"/>
            <a:ext cx="1148121" cy="325779"/>
          </a:xfrm>
          <a:custGeom>
            <a:avLst/>
            <a:gdLst/>
            <a:ahLst/>
            <a:cxnLst/>
            <a:rect r="r" b="b" t="t" l="l"/>
            <a:pathLst>
              <a:path h="325779" w="1148121">
                <a:moveTo>
                  <a:pt x="0" y="0"/>
                </a:moveTo>
                <a:lnTo>
                  <a:pt x="1148121" y="0"/>
                </a:lnTo>
                <a:lnTo>
                  <a:pt x="1148121" y="325779"/>
                </a:lnTo>
                <a:lnTo>
                  <a:pt x="0" y="325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138244" y="2974746"/>
            <a:ext cx="1148121" cy="325779"/>
          </a:xfrm>
          <a:custGeom>
            <a:avLst/>
            <a:gdLst/>
            <a:ahLst/>
            <a:cxnLst/>
            <a:rect r="r" b="b" t="t" l="l"/>
            <a:pathLst>
              <a:path h="325779" w="1148121">
                <a:moveTo>
                  <a:pt x="0" y="0"/>
                </a:moveTo>
                <a:lnTo>
                  <a:pt x="1148121" y="0"/>
                </a:lnTo>
                <a:lnTo>
                  <a:pt x="1148121" y="325779"/>
                </a:lnTo>
                <a:lnTo>
                  <a:pt x="0" y="325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40737" y="4141804"/>
            <a:ext cx="3508747" cy="3454653"/>
          </a:xfrm>
          <a:custGeom>
            <a:avLst/>
            <a:gdLst/>
            <a:ahLst/>
            <a:cxnLst/>
            <a:rect r="r" b="b" t="t" l="l"/>
            <a:pathLst>
              <a:path h="3454653" w="3508747">
                <a:moveTo>
                  <a:pt x="0" y="0"/>
                </a:moveTo>
                <a:lnTo>
                  <a:pt x="3508747" y="0"/>
                </a:lnTo>
                <a:lnTo>
                  <a:pt x="3508747" y="3454654"/>
                </a:lnTo>
                <a:lnTo>
                  <a:pt x="0" y="34546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84230" y="8774547"/>
            <a:ext cx="1318909" cy="1160640"/>
          </a:xfrm>
          <a:custGeom>
            <a:avLst/>
            <a:gdLst/>
            <a:ahLst/>
            <a:cxnLst/>
            <a:rect r="r" b="b" t="t" l="l"/>
            <a:pathLst>
              <a:path h="1160640" w="1318909">
                <a:moveTo>
                  <a:pt x="0" y="0"/>
                </a:moveTo>
                <a:lnTo>
                  <a:pt x="1318910" y="0"/>
                </a:lnTo>
                <a:lnTo>
                  <a:pt x="1318910" y="1160640"/>
                </a:lnTo>
                <a:lnTo>
                  <a:pt x="0" y="11606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859044" y="7663133"/>
            <a:ext cx="8672134" cy="3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 spc="777">
                <a:solidFill>
                  <a:srgbClr val="D069CB"/>
                </a:solidFill>
                <a:latin typeface="Montserrat"/>
                <a:ea typeface="Montserrat"/>
                <a:cs typeface="Montserrat"/>
                <a:sym typeface="Montserrat"/>
              </a:rPr>
              <a:t>A JLV INVESTIMENTOS TE AJUDA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12304" y="8589037"/>
            <a:ext cx="6863391" cy="137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traz resultados em menos de 3 meses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54354" y="8128637"/>
            <a:ext cx="6863391" cy="412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100% gratuito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26343">
            <a:off x="-2936834" y="-4074503"/>
            <a:ext cx="10795354" cy="16260896"/>
          </a:xfrm>
          <a:prstGeom prst="rect">
            <a:avLst/>
          </a:prstGeom>
          <a:solidFill>
            <a:srgbClr val="24204A">
              <a:alpha val="49804"/>
            </a:srgbClr>
          </a:solidFill>
        </p:spPr>
      </p:sp>
      <p:grpSp>
        <p:nvGrpSpPr>
          <p:cNvPr name="Group 3" id="3"/>
          <p:cNvGrpSpPr/>
          <p:nvPr/>
        </p:nvGrpSpPr>
        <p:grpSpPr>
          <a:xfrm rot="0">
            <a:off x="950477" y="843036"/>
            <a:ext cx="5624574" cy="562457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5046" t="0" r="-25046" b="0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 rot="1826343">
            <a:off x="17436757" y="6929078"/>
            <a:ext cx="2760382" cy="4990849"/>
          </a:xfrm>
          <a:prstGeom prst="rect">
            <a:avLst/>
          </a:prstGeom>
          <a:solidFill>
            <a:srgbClr val="D069CB"/>
          </a:solidFill>
        </p:spPr>
      </p:sp>
      <p:sp>
        <p:nvSpPr>
          <p:cNvPr name="AutoShape 6" id="6"/>
          <p:cNvSpPr/>
          <p:nvPr/>
        </p:nvSpPr>
        <p:spPr>
          <a:xfrm rot="0">
            <a:off x="16362755" y="1549571"/>
            <a:ext cx="896545" cy="0"/>
          </a:xfrm>
          <a:prstGeom prst="line">
            <a:avLst/>
          </a:prstGeom>
          <a:ln cap="flat" w="28575">
            <a:solidFill>
              <a:srgbClr val="D069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1820999">
            <a:off x="8812380" y="-966671"/>
            <a:ext cx="283364" cy="8538946"/>
          </a:xfrm>
          <a:prstGeom prst="rect">
            <a:avLst/>
          </a:prstGeom>
          <a:solidFill>
            <a:srgbClr val="D069CB"/>
          </a:solidFill>
        </p:spPr>
      </p:sp>
      <p:sp>
        <p:nvSpPr>
          <p:cNvPr name="Freeform 8" id="8"/>
          <p:cNvSpPr/>
          <p:nvPr/>
        </p:nvSpPr>
        <p:spPr>
          <a:xfrm flipH="false" flipV="false" rot="0">
            <a:off x="13224336" y="1028700"/>
            <a:ext cx="1148121" cy="325779"/>
          </a:xfrm>
          <a:custGeom>
            <a:avLst/>
            <a:gdLst/>
            <a:ahLst/>
            <a:cxnLst/>
            <a:rect r="r" b="b" t="t" l="l"/>
            <a:pathLst>
              <a:path h="325779" w="1148121">
                <a:moveTo>
                  <a:pt x="0" y="0"/>
                </a:moveTo>
                <a:lnTo>
                  <a:pt x="1148120" y="0"/>
                </a:lnTo>
                <a:lnTo>
                  <a:pt x="1148120" y="325779"/>
                </a:lnTo>
                <a:lnTo>
                  <a:pt x="0" y="3257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39885" y="9247810"/>
            <a:ext cx="1148121" cy="325779"/>
          </a:xfrm>
          <a:custGeom>
            <a:avLst/>
            <a:gdLst/>
            <a:ahLst/>
            <a:cxnLst/>
            <a:rect r="r" b="b" t="t" l="l"/>
            <a:pathLst>
              <a:path h="325779" w="1148121">
                <a:moveTo>
                  <a:pt x="0" y="0"/>
                </a:moveTo>
                <a:lnTo>
                  <a:pt x="1148121" y="0"/>
                </a:lnTo>
                <a:lnTo>
                  <a:pt x="1148121" y="325780"/>
                </a:lnTo>
                <a:lnTo>
                  <a:pt x="0" y="325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39579" y="1032138"/>
            <a:ext cx="5246370" cy="524637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406393" y="3712473"/>
            <a:ext cx="7281768" cy="227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CONHEÇA A JLV INVESTIMENTOS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790920" y="949496"/>
            <a:ext cx="146838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04180" y="7001604"/>
            <a:ext cx="9290351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eu copiloto inteligente. Nosso propósito é desmistificar as finanças pessoais e transformar a gestão do seu dinheiro em uma ferramenta de poder.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1826343">
            <a:off x="-2864402" y="-4340739"/>
            <a:ext cx="9744329" cy="16260896"/>
          </a:xfrm>
          <a:prstGeom prst="rect">
            <a:avLst/>
          </a:prstGeom>
          <a:solidFill>
            <a:srgbClr val="24204A">
              <a:alpha val="49804"/>
            </a:srgbClr>
          </a:solidFill>
        </p:spPr>
      </p:sp>
      <p:grpSp>
        <p:nvGrpSpPr>
          <p:cNvPr name="Group 3" id="3"/>
          <p:cNvGrpSpPr/>
          <p:nvPr/>
        </p:nvGrpSpPr>
        <p:grpSpPr>
          <a:xfrm rot="0">
            <a:off x="-603376" y="1191590"/>
            <a:ext cx="9747376" cy="6591367"/>
            <a:chOff x="0" y="0"/>
            <a:chExt cx="6221730" cy="42072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21730" cy="4207256"/>
            </a:xfrm>
            <a:custGeom>
              <a:avLst/>
              <a:gdLst/>
              <a:ahLst/>
              <a:cxnLst/>
              <a:rect r="r" b="b" t="t" l="l"/>
              <a:pathLst>
                <a:path h="4207256" w="6221730">
                  <a:moveTo>
                    <a:pt x="6221730" y="0"/>
                  </a:moveTo>
                  <a:lnTo>
                    <a:pt x="3877818" y="3979799"/>
                  </a:lnTo>
                  <a:cubicBezTo>
                    <a:pt x="3799239" y="4120238"/>
                    <a:pt x="3650888" y="4207238"/>
                    <a:pt x="3489960" y="4207256"/>
                  </a:cubicBezTo>
                  <a:lnTo>
                    <a:pt x="0" y="4207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833" r="0" b="-2833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 rot="1826343">
            <a:off x="17436757" y="6929078"/>
            <a:ext cx="2760382" cy="4990849"/>
          </a:xfrm>
          <a:prstGeom prst="rect">
            <a:avLst/>
          </a:prstGeom>
          <a:solidFill>
            <a:srgbClr val="D069CB"/>
          </a:solidFill>
        </p:spPr>
      </p:sp>
      <p:sp>
        <p:nvSpPr>
          <p:cNvPr name="AutoShape 6" id="6"/>
          <p:cNvSpPr/>
          <p:nvPr/>
        </p:nvSpPr>
        <p:spPr>
          <a:xfrm rot="0">
            <a:off x="16362755" y="1549571"/>
            <a:ext cx="896545" cy="0"/>
          </a:xfrm>
          <a:prstGeom prst="line">
            <a:avLst/>
          </a:prstGeom>
          <a:ln cap="flat" w="28575">
            <a:solidFill>
              <a:srgbClr val="D069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1820999">
            <a:off x="7802913" y="-1363660"/>
            <a:ext cx="276377" cy="9894432"/>
          </a:xfrm>
          <a:prstGeom prst="rect">
            <a:avLst/>
          </a:prstGeom>
          <a:solidFill>
            <a:srgbClr val="D069CB"/>
          </a:solidFill>
        </p:spPr>
      </p:sp>
      <p:sp>
        <p:nvSpPr>
          <p:cNvPr name="Freeform 8" id="8"/>
          <p:cNvSpPr/>
          <p:nvPr/>
        </p:nvSpPr>
        <p:spPr>
          <a:xfrm flipH="false" flipV="false" rot="0">
            <a:off x="13408045" y="1028700"/>
            <a:ext cx="1148121" cy="325779"/>
          </a:xfrm>
          <a:custGeom>
            <a:avLst/>
            <a:gdLst/>
            <a:ahLst/>
            <a:cxnLst/>
            <a:rect r="r" b="b" t="t" l="l"/>
            <a:pathLst>
              <a:path h="325779" w="1148121">
                <a:moveTo>
                  <a:pt x="0" y="0"/>
                </a:moveTo>
                <a:lnTo>
                  <a:pt x="1148121" y="0"/>
                </a:lnTo>
                <a:lnTo>
                  <a:pt x="1148121" y="325779"/>
                </a:lnTo>
                <a:lnTo>
                  <a:pt x="0" y="3257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322118" y="9261613"/>
            <a:ext cx="1148121" cy="325779"/>
          </a:xfrm>
          <a:custGeom>
            <a:avLst/>
            <a:gdLst/>
            <a:ahLst/>
            <a:cxnLst/>
            <a:rect r="r" b="b" t="t" l="l"/>
            <a:pathLst>
              <a:path h="325779" w="1148121">
                <a:moveTo>
                  <a:pt x="0" y="0"/>
                </a:moveTo>
                <a:lnTo>
                  <a:pt x="1148121" y="0"/>
                </a:lnTo>
                <a:lnTo>
                  <a:pt x="1148121" y="325779"/>
                </a:lnTo>
                <a:lnTo>
                  <a:pt x="0" y="3257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83619" y="4308111"/>
            <a:ext cx="7281768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MAIS SOBRE NÓS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90920" y="949496"/>
            <a:ext cx="146838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83619" y="5733687"/>
            <a:ext cx="6863391" cy="5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Nossos pilares: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77030" y="7911888"/>
            <a:ext cx="1806589" cy="3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confiança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358125" y="7362613"/>
            <a:ext cx="56829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D069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12244" y="7911888"/>
            <a:ext cx="1806589" cy="3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Segurança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31392" y="7295938"/>
            <a:ext cx="56829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D069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21041" y="7911888"/>
            <a:ext cx="1806589" cy="3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Facilidade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03353" y="7295938"/>
            <a:ext cx="56829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D069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556166" y="7911888"/>
            <a:ext cx="1806589" cy="3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Resultado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175314" y="7295938"/>
            <a:ext cx="56829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D069C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70146">
            <a:off x="-9046547" y="366694"/>
            <a:ext cx="12065880" cy="12065880"/>
          </a:xfrm>
          <a:custGeom>
            <a:avLst/>
            <a:gdLst/>
            <a:ahLst/>
            <a:cxnLst/>
            <a:rect r="r" b="b" t="t" l="l"/>
            <a:pathLst>
              <a:path h="12065880" w="12065880">
                <a:moveTo>
                  <a:pt x="0" y="0"/>
                </a:moveTo>
                <a:lnTo>
                  <a:pt x="12065881" y="0"/>
                </a:lnTo>
                <a:lnTo>
                  <a:pt x="12065881" y="12065881"/>
                </a:lnTo>
                <a:lnTo>
                  <a:pt x="0" y="12065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6362755" y="1549571"/>
            <a:ext cx="896545" cy="0"/>
          </a:xfrm>
          <a:prstGeom prst="line">
            <a:avLst/>
          </a:prstGeom>
          <a:ln cap="flat" w="28575">
            <a:solidFill>
              <a:srgbClr val="D069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125368"/>
            <a:ext cx="1545340" cy="438490"/>
          </a:xfrm>
          <a:custGeom>
            <a:avLst/>
            <a:gdLst/>
            <a:ahLst/>
            <a:cxnLst/>
            <a:rect r="r" b="b" t="t" l="l"/>
            <a:pathLst>
              <a:path h="438490" w="1545340">
                <a:moveTo>
                  <a:pt x="0" y="0"/>
                </a:moveTo>
                <a:lnTo>
                  <a:pt x="1545340" y="0"/>
                </a:lnTo>
                <a:lnTo>
                  <a:pt x="1545340" y="438490"/>
                </a:lnTo>
                <a:lnTo>
                  <a:pt x="0" y="4384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85240" y="9507181"/>
            <a:ext cx="1148121" cy="325779"/>
          </a:xfrm>
          <a:custGeom>
            <a:avLst/>
            <a:gdLst/>
            <a:ahLst/>
            <a:cxnLst/>
            <a:rect r="r" b="b" t="t" l="l"/>
            <a:pathLst>
              <a:path h="325779" w="1148121">
                <a:moveTo>
                  <a:pt x="0" y="0"/>
                </a:moveTo>
                <a:lnTo>
                  <a:pt x="1148120" y="0"/>
                </a:lnTo>
                <a:lnTo>
                  <a:pt x="1148120" y="325780"/>
                </a:lnTo>
                <a:lnTo>
                  <a:pt x="0" y="3257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5915380"/>
            <a:ext cx="9076906" cy="1657720"/>
            <a:chOff x="0" y="0"/>
            <a:chExt cx="12102542" cy="221029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2102542" cy="2210293"/>
              <a:chOff x="0" y="0"/>
              <a:chExt cx="6912942" cy="126251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912942" cy="1262514"/>
              </a:xfrm>
              <a:custGeom>
                <a:avLst/>
                <a:gdLst/>
                <a:ahLst/>
                <a:cxnLst/>
                <a:rect r="r" b="b" t="t" l="l"/>
                <a:pathLst>
                  <a:path h="1262514" w="6912942">
                    <a:moveTo>
                      <a:pt x="6788482" y="1262514"/>
                    </a:moveTo>
                    <a:lnTo>
                      <a:pt x="124460" y="1262514"/>
                    </a:lnTo>
                    <a:cubicBezTo>
                      <a:pt x="55880" y="1262514"/>
                      <a:pt x="0" y="1206634"/>
                      <a:pt x="0" y="1138054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6788482" y="0"/>
                    </a:lnTo>
                    <a:cubicBezTo>
                      <a:pt x="6857061" y="0"/>
                      <a:pt x="6912942" y="55880"/>
                      <a:pt x="6912942" y="124460"/>
                    </a:cubicBezTo>
                    <a:lnTo>
                      <a:pt x="6912942" y="1138054"/>
                    </a:lnTo>
                    <a:cubicBezTo>
                      <a:pt x="6912942" y="1206634"/>
                      <a:pt x="6857061" y="1262514"/>
                      <a:pt x="6788482" y="1262514"/>
                    </a:cubicBezTo>
                    <a:close/>
                  </a:path>
                </a:pathLst>
              </a:custGeom>
              <a:solidFill>
                <a:srgbClr val="310648"/>
              </a:solid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512484" y="313725"/>
              <a:ext cx="11077575" cy="15352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A mágica acontece no nosso backend, no arquivo app.py. 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É onde o Python calcula seu líquido e implementa a regra 50/30/20 de forma inteligente.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7939691"/>
            <a:ext cx="9076906" cy="1730380"/>
            <a:chOff x="0" y="0"/>
            <a:chExt cx="12102542" cy="2307174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2102542" cy="2307174"/>
              <a:chOff x="0" y="0"/>
              <a:chExt cx="6912942" cy="131785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912942" cy="1317852"/>
              </a:xfrm>
              <a:custGeom>
                <a:avLst/>
                <a:gdLst/>
                <a:ahLst/>
                <a:cxnLst/>
                <a:rect r="r" b="b" t="t" l="l"/>
                <a:pathLst>
                  <a:path h="1317852" w="6912942">
                    <a:moveTo>
                      <a:pt x="6788482" y="1317852"/>
                    </a:moveTo>
                    <a:lnTo>
                      <a:pt x="124460" y="1317852"/>
                    </a:lnTo>
                    <a:cubicBezTo>
                      <a:pt x="55880" y="1317852"/>
                      <a:pt x="0" y="1261972"/>
                      <a:pt x="0" y="1193392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6788482" y="0"/>
                    </a:lnTo>
                    <a:cubicBezTo>
                      <a:pt x="6857061" y="0"/>
                      <a:pt x="6912942" y="55880"/>
                      <a:pt x="6912942" y="124460"/>
                    </a:cubicBezTo>
                    <a:lnTo>
                      <a:pt x="6912942" y="1193392"/>
                    </a:lnTo>
                    <a:cubicBezTo>
                      <a:pt x="6912942" y="1261972"/>
                      <a:pt x="6857061" y="1317852"/>
                      <a:pt x="6788482" y="1317852"/>
                    </a:cubicBezTo>
                    <a:close/>
                  </a:path>
                </a:pathLst>
              </a:custGeom>
              <a:solidFill>
                <a:srgbClr val="310648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266500" y="101815"/>
              <a:ext cx="11626600" cy="20559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Se</a:t>
              </a:r>
              <a:r>
                <a:rPr lang="en-US" sz="2199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 sobrar dinheiro das necessidades, o código não o joga fora, ele o move diretamente para maximizar seu investimento! 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Lexend Deca"/>
                  <a:ea typeface="Lexend Deca"/>
                  <a:cs typeface="Lexend Deca"/>
                  <a:sym typeface="Lexend Deca"/>
                </a:rPr>
                <a:t>E se faltar, ele protege o seu futuro, ajustando primeiro a área de 'Desejos'.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847834" y="5143500"/>
            <a:ext cx="4135477" cy="4114800"/>
          </a:xfrm>
          <a:custGeom>
            <a:avLst/>
            <a:gdLst/>
            <a:ahLst/>
            <a:cxnLst/>
            <a:rect r="r" b="b" t="t" l="l"/>
            <a:pathLst>
              <a:path h="4114800" w="4135477">
                <a:moveTo>
                  <a:pt x="0" y="0"/>
                </a:moveTo>
                <a:lnTo>
                  <a:pt x="4135478" y="0"/>
                </a:lnTo>
                <a:lnTo>
                  <a:pt x="41354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489822" y="2336109"/>
            <a:ext cx="10716026" cy="2157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4"/>
              </a:lnSpc>
            </a:pP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Nosso ponto de partida é o design minimalista, elegante e focado do</a:t>
            </a:r>
            <a:r>
              <a:rPr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nosso gerenciador. Criamos um formulário limpo que pergunta o essencial: Seu salário, seus gastos fixos e gastos com alimentação. Zero complicação.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01495" y="2220666"/>
            <a:ext cx="4888327" cy="227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COMO FUNCIONA?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90920" y="949496"/>
            <a:ext cx="146838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854175">
            <a:off x="-7426957" y="-5844763"/>
            <a:ext cx="11909229" cy="18439642"/>
          </a:xfrm>
          <a:prstGeom prst="rect">
            <a:avLst/>
          </a:prstGeom>
          <a:solidFill>
            <a:srgbClr val="24204A">
              <a:alpha val="49804"/>
            </a:srgbClr>
          </a:solidFill>
        </p:spPr>
      </p:sp>
      <p:sp>
        <p:nvSpPr>
          <p:cNvPr name="AutoShape 3" id="3"/>
          <p:cNvSpPr/>
          <p:nvPr/>
        </p:nvSpPr>
        <p:spPr>
          <a:xfrm rot="831153">
            <a:off x="638739" y="3297449"/>
            <a:ext cx="313735" cy="7919295"/>
          </a:xfrm>
          <a:prstGeom prst="rect">
            <a:avLst/>
          </a:prstGeom>
          <a:solidFill>
            <a:srgbClr val="D069CB"/>
          </a:solidFill>
        </p:spPr>
      </p:sp>
      <p:grpSp>
        <p:nvGrpSpPr>
          <p:cNvPr name="Group 4" id="4"/>
          <p:cNvGrpSpPr/>
          <p:nvPr/>
        </p:nvGrpSpPr>
        <p:grpSpPr>
          <a:xfrm rot="0">
            <a:off x="834764" y="2520315"/>
            <a:ext cx="3532066" cy="5246370"/>
            <a:chOff x="0" y="0"/>
            <a:chExt cx="4275074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2"/>
              <a:stretch>
                <a:fillRect l="-82031" t="0" r="-82031" b="0"/>
              </a:stretch>
            </a:blipFill>
          </p:spPr>
        </p:sp>
      </p:grpSp>
      <p:sp>
        <p:nvSpPr>
          <p:cNvPr name="AutoShape 6" id="6"/>
          <p:cNvSpPr/>
          <p:nvPr/>
        </p:nvSpPr>
        <p:spPr>
          <a:xfrm rot="831153">
            <a:off x="6325199" y="-2066824"/>
            <a:ext cx="445009" cy="10425241"/>
          </a:xfrm>
          <a:prstGeom prst="rect">
            <a:avLst/>
          </a:prstGeom>
          <a:solidFill>
            <a:srgbClr val="D069CB"/>
          </a:solidFill>
        </p:spPr>
      </p:sp>
      <p:grpSp>
        <p:nvGrpSpPr>
          <p:cNvPr name="Group 7" id="7"/>
          <p:cNvGrpSpPr/>
          <p:nvPr/>
        </p:nvGrpSpPr>
        <p:grpSpPr>
          <a:xfrm rot="0">
            <a:off x="8424585" y="6895583"/>
            <a:ext cx="10512761" cy="3878508"/>
            <a:chOff x="0" y="0"/>
            <a:chExt cx="8006484" cy="29538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006483" cy="2953859"/>
            </a:xfrm>
            <a:custGeom>
              <a:avLst/>
              <a:gdLst/>
              <a:ahLst/>
              <a:cxnLst/>
              <a:rect r="r" b="b" t="t" l="l"/>
              <a:pathLst>
                <a:path h="2953859" w="8006483">
                  <a:moveTo>
                    <a:pt x="7882024" y="2953859"/>
                  </a:moveTo>
                  <a:lnTo>
                    <a:pt x="124460" y="2953859"/>
                  </a:lnTo>
                  <a:cubicBezTo>
                    <a:pt x="55880" y="2953859"/>
                    <a:pt x="0" y="2897979"/>
                    <a:pt x="0" y="282939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882024" y="0"/>
                  </a:lnTo>
                  <a:cubicBezTo>
                    <a:pt x="7950604" y="0"/>
                    <a:pt x="8006483" y="55880"/>
                    <a:pt x="8006483" y="124460"/>
                  </a:cubicBezTo>
                  <a:lnTo>
                    <a:pt x="8006483" y="2829399"/>
                  </a:lnTo>
                  <a:cubicBezTo>
                    <a:pt x="8006483" y="2897979"/>
                    <a:pt x="7950604" y="2953859"/>
                    <a:pt x="7882024" y="2953859"/>
                  </a:cubicBezTo>
                  <a:close/>
                </a:path>
              </a:pathLst>
            </a:custGeom>
            <a:solidFill>
              <a:srgbClr val="D069CB">
                <a:alpha val="28627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79895" y="2520315"/>
            <a:ext cx="3532066" cy="5246370"/>
            <a:chOff x="0" y="0"/>
            <a:chExt cx="4275074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3"/>
              <a:stretch>
                <a:fillRect l="-59217" t="0" r="-5921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54314" y="7728585"/>
            <a:ext cx="2593338" cy="657225"/>
            <a:chOff x="0" y="0"/>
            <a:chExt cx="1364950" cy="3459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4950" cy="345917"/>
            </a:xfrm>
            <a:custGeom>
              <a:avLst/>
              <a:gdLst/>
              <a:ahLst/>
              <a:cxnLst/>
              <a:rect r="r" b="b" t="t" l="l"/>
              <a:pathLst>
                <a:path h="345917" w="1364950">
                  <a:moveTo>
                    <a:pt x="203200" y="0"/>
                  </a:moveTo>
                  <a:lnTo>
                    <a:pt x="1364950" y="0"/>
                  </a:lnTo>
                  <a:lnTo>
                    <a:pt x="1161750" y="345917"/>
                  </a:lnTo>
                  <a:lnTo>
                    <a:pt x="0" y="34591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069C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47625"/>
              <a:ext cx="1161750" cy="393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900113" y="7738110"/>
            <a:ext cx="2611707" cy="661880"/>
            <a:chOff x="0" y="0"/>
            <a:chExt cx="1364950" cy="34591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64950" cy="345917"/>
            </a:xfrm>
            <a:custGeom>
              <a:avLst/>
              <a:gdLst/>
              <a:ahLst/>
              <a:cxnLst/>
              <a:rect r="r" b="b" t="t" l="l"/>
              <a:pathLst>
                <a:path h="345917" w="1364950">
                  <a:moveTo>
                    <a:pt x="203200" y="0"/>
                  </a:moveTo>
                  <a:lnTo>
                    <a:pt x="1364950" y="0"/>
                  </a:lnTo>
                  <a:lnTo>
                    <a:pt x="1161750" y="345917"/>
                  </a:lnTo>
                  <a:lnTo>
                    <a:pt x="0" y="34591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069C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47625"/>
              <a:ext cx="1161750" cy="393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rot="0">
            <a:off x="16362755" y="1549571"/>
            <a:ext cx="896545" cy="0"/>
          </a:xfrm>
          <a:prstGeom prst="line">
            <a:avLst/>
          </a:prstGeom>
          <a:ln cap="flat" w="28575">
            <a:solidFill>
              <a:srgbClr val="D069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1048348" y="1006646"/>
            <a:ext cx="1148121" cy="325779"/>
          </a:xfrm>
          <a:custGeom>
            <a:avLst/>
            <a:gdLst/>
            <a:ahLst/>
            <a:cxnLst/>
            <a:rect r="r" b="b" t="t" l="l"/>
            <a:pathLst>
              <a:path h="325779" w="1148121">
                <a:moveTo>
                  <a:pt x="0" y="0"/>
                </a:moveTo>
                <a:lnTo>
                  <a:pt x="1148121" y="0"/>
                </a:lnTo>
                <a:lnTo>
                  <a:pt x="1148121" y="325779"/>
                </a:lnTo>
                <a:lnTo>
                  <a:pt x="0" y="325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8726138" y="7257097"/>
            <a:ext cx="10512761" cy="3878508"/>
            <a:chOff x="0" y="0"/>
            <a:chExt cx="8006484" cy="29538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006483" cy="2953859"/>
            </a:xfrm>
            <a:custGeom>
              <a:avLst/>
              <a:gdLst/>
              <a:ahLst/>
              <a:cxnLst/>
              <a:rect r="r" b="b" t="t" l="l"/>
              <a:pathLst>
                <a:path h="2953859" w="8006483">
                  <a:moveTo>
                    <a:pt x="7882024" y="2953859"/>
                  </a:moveTo>
                  <a:lnTo>
                    <a:pt x="124460" y="2953859"/>
                  </a:lnTo>
                  <a:cubicBezTo>
                    <a:pt x="55880" y="2953859"/>
                    <a:pt x="0" y="2897979"/>
                    <a:pt x="0" y="282939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882024" y="0"/>
                  </a:lnTo>
                  <a:cubicBezTo>
                    <a:pt x="7950604" y="0"/>
                    <a:pt x="8006483" y="55880"/>
                    <a:pt x="8006483" y="124460"/>
                  </a:cubicBezTo>
                  <a:lnTo>
                    <a:pt x="8006483" y="2829399"/>
                  </a:lnTo>
                  <a:cubicBezTo>
                    <a:pt x="8006483" y="2897979"/>
                    <a:pt x="7950604" y="2953859"/>
                    <a:pt x="7882024" y="2953859"/>
                  </a:cubicBezTo>
                  <a:close/>
                </a:path>
              </a:pathLst>
            </a:custGeom>
            <a:solidFill>
              <a:srgbClr val="310648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114681" y="4140835"/>
            <a:ext cx="8815580" cy="195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mercado está cheio de calculadoras simples. 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JLV vai muito além com Inteligência Artificial. Nossa função prever_risco_nb carrega um modelo de Naive Bayes treinado.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24203" y="2577465"/>
            <a:ext cx="5391547" cy="115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DIFERENCIAL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790920" y="949496"/>
            <a:ext cx="146838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92911" y="7391482"/>
            <a:ext cx="9059119" cy="272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 base na proporção entre seus gastos essenciais e sua renda, e se sua renda é estável, a IA não apenas calcula, mas também prevê seu nível de risco financeiro baixo, Moderado ou Alto. </a:t>
            </a:r>
          </a:p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Isso transforma uma sugestão em uma análise estratégica.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27" t="0" r="-382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700000">
            <a:off x="3405616" y="-594884"/>
            <a:ext cx="11476767" cy="11476767"/>
          </a:xfrm>
          <a:custGeom>
            <a:avLst/>
            <a:gdLst/>
            <a:ahLst/>
            <a:cxnLst/>
            <a:rect r="r" b="b" t="t" l="l"/>
            <a:pathLst>
              <a:path h="11476767" w="11476767">
                <a:moveTo>
                  <a:pt x="0" y="0"/>
                </a:moveTo>
                <a:lnTo>
                  <a:pt x="11476768" y="0"/>
                </a:lnTo>
                <a:lnTo>
                  <a:pt x="11476768" y="11476768"/>
                </a:lnTo>
                <a:lnTo>
                  <a:pt x="0" y="114767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rot="0">
            <a:off x="4286647" y="3574282"/>
            <a:ext cx="2290668" cy="0"/>
          </a:xfrm>
          <a:prstGeom prst="line">
            <a:avLst/>
          </a:prstGeom>
          <a:ln cap="flat" w="28575">
            <a:solidFill>
              <a:srgbClr val="D069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6577315" y="3588569"/>
            <a:ext cx="7290611" cy="0"/>
          </a:xfrm>
          <a:prstGeom prst="line">
            <a:avLst/>
          </a:prstGeom>
          <a:ln cap="flat" w="28575">
            <a:solidFill>
              <a:srgbClr val="D069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0">
            <a:off x="16362755" y="1549571"/>
            <a:ext cx="896545" cy="0"/>
          </a:xfrm>
          <a:prstGeom prst="line">
            <a:avLst/>
          </a:prstGeom>
          <a:ln cap="flat" w="28575">
            <a:solidFill>
              <a:srgbClr val="D069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8932521"/>
            <a:ext cx="1148121" cy="325779"/>
          </a:xfrm>
          <a:custGeom>
            <a:avLst/>
            <a:gdLst/>
            <a:ahLst/>
            <a:cxnLst/>
            <a:rect r="r" b="b" t="t" l="l"/>
            <a:pathLst>
              <a:path h="325779" w="1148121">
                <a:moveTo>
                  <a:pt x="0" y="0"/>
                </a:moveTo>
                <a:lnTo>
                  <a:pt x="1148121" y="0"/>
                </a:lnTo>
                <a:lnTo>
                  <a:pt x="1148121" y="325779"/>
                </a:lnTo>
                <a:lnTo>
                  <a:pt x="0" y="325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90920" y="2535822"/>
            <a:ext cx="1148121" cy="325779"/>
          </a:xfrm>
          <a:custGeom>
            <a:avLst/>
            <a:gdLst/>
            <a:ahLst/>
            <a:cxnLst/>
            <a:rect r="r" b="b" t="t" l="l"/>
            <a:pathLst>
              <a:path h="325779" w="1148121">
                <a:moveTo>
                  <a:pt x="0" y="0"/>
                </a:moveTo>
                <a:lnTo>
                  <a:pt x="1148121" y="0"/>
                </a:lnTo>
                <a:lnTo>
                  <a:pt x="1148121" y="325779"/>
                </a:lnTo>
                <a:lnTo>
                  <a:pt x="0" y="325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48393" y="248393"/>
            <a:ext cx="1081996" cy="108199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64570" y="0"/>
                  </a:moveTo>
                  <a:lnTo>
                    <a:pt x="648230" y="0"/>
                  </a:lnTo>
                  <a:cubicBezTo>
                    <a:pt x="739119" y="0"/>
                    <a:pt x="812800" y="73681"/>
                    <a:pt x="812800" y="164570"/>
                  </a:cubicBezTo>
                  <a:lnTo>
                    <a:pt x="812800" y="648230"/>
                  </a:lnTo>
                  <a:cubicBezTo>
                    <a:pt x="812800" y="739119"/>
                    <a:pt x="739119" y="812800"/>
                    <a:pt x="648230" y="812800"/>
                  </a:cubicBezTo>
                  <a:lnTo>
                    <a:pt x="164570" y="812800"/>
                  </a:lnTo>
                  <a:cubicBezTo>
                    <a:pt x="73681" y="812800"/>
                    <a:pt x="0" y="739119"/>
                    <a:pt x="0" y="648230"/>
                  </a:cubicBezTo>
                  <a:lnTo>
                    <a:pt x="0" y="164570"/>
                  </a:lnTo>
                  <a:cubicBezTo>
                    <a:pt x="0" y="73681"/>
                    <a:pt x="73681" y="0"/>
                    <a:pt x="16457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790920" y="949496"/>
            <a:ext cx="146838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86647" y="6203702"/>
            <a:ext cx="9447851" cy="727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 vo</a:t>
            </a:r>
            <a:r>
              <a:rPr lang="en-US" sz="2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cê que mudar de vida, isso só depende apenas de você, mas com nossa ajuda, sua jornada fica muito mais fácil.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53181" y="3543052"/>
            <a:ext cx="5429758" cy="247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299"/>
              </a:lnSpc>
            </a:pPr>
            <a:r>
              <a:rPr lang="en-US" sz="14499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MUITO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75783" y="3543052"/>
            <a:ext cx="8837584" cy="247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99"/>
              </a:lnSpc>
            </a:pPr>
            <a:r>
              <a:rPr lang="en-US" sz="14499">
                <a:solidFill>
                  <a:srgbClr val="D069CB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OBRIGADO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DAG7Vteraj0</dc:identifier>
  <dcterms:modified xsi:type="dcterms:W3CDTF">2011-08-01T06:04:30Z</dcterms:modified>
  <cp:revision>1</cp:revision>
  <dc:title>Vídeo</dc:title>
</cp:coreProperties>
</file>